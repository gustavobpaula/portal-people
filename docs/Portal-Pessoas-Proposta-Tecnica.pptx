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191e9c4c64638" /><Relationship Type="http://schemas.openxmlformats.org/officeDocument/2006/relationships/extended-properties" Target="/docProps/app.xml" Id="Rab141ed429d3402c" /><Relationship Type="http://schemas.openxmlformats.org/officeDocument/2006/relationships/officeDocument" Target="/ppt/presentation.xml" Id="R16b0a07f225b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160ea8a044ee0"/>
  </p:sldMasterIdLst>
  <p:notesMasterIdLst>
    <p:notesMasterId xmlns:r="http://schemas.openxmlformats.org/officeDocument/2006/relationships" r:id="R49f649d0379b4dfd"/>
  </p:notesMasterIdLst>
  <p:sldIdLst>
    <p:sldId xmlns:r="http://schemas.openxmlformats.org/officeDocument/2006/relationships" id="256" r:id="Rafb38deb82a742ec"/>
    <p:sldId xmlns:r="http://schemas.openxmlformats.org/officeDocument/2006/relationships" id="257" r:id="R8fc1b6b62d164ef9"/>
    <p:sldId xmlns:r="http://schemas.openxmlformats.org/officeDocument/2006/relationships" id="258" r:id="Rdd1dd05cdc1f4963"/>
    <p:sldId xmlns:r="http://schemas.openxmlformats.org/officeDocument/2006/relationships" id="259" r:id="R4ade47b942614f01"/>
    <p:sldId xmlns:r="http://schemas.openxmlformats.org/officeDocument/2006/relationships" id="260" r:id="Racab99abe58b4edb"/>
    <p:sldId xmlns:r="http://schemas.openxmlformats.org/officeDocument/2006/relationships" id="261" r:id="R598aba52a7ea4a92"/>
    <p:sldId xmlns:r="http://schemas.openxmlformats.org/officeDocument/2006/relationships" id="262" r:id="Rdd01b072b2bc4a18"/>
    <p:sldId xmlns:r="http://schemas.openxmlformats.org/officeDocument/2006/relationships" id="263" r:id="R3f5222da314940db"/>
    <p:sldId xmlns:r="http://schemas.openxmlformats.org/officeDocument/2006/relationships" id="264" r:id="Rf32523bdfcbb4d83"/>
    <p:sldId xmlns:r="http://schemas.openxmlformats.org/officeDocument/2006/relationships" id="265" r:id="Rd2e6002c2a4c45c0"/>
    <p:sldId xmlns:r="http://schemas.openxmlformats.org/officeDocument/2006/relationships" id="266" r:id="R7121f130097b47ef"/>
    <p:sldId xmlns:r="http://schemas.openxmlformats.org/officeDocument/2006/relationships" id="267" r:id="R374bfd1439db43c1"/>
    <p:sldId xmlns:r="http://schemas.openxmlformats.org/officeDocument/2006/relationships" id="268" r:id="R6c332062af4d4f8b"/>
    <p:sldId xmlns:r="http://schemas.openxmlformats.org/officeDocument/2006/relationships" id="269" r:id="Rac9ec9cc9fe2469e"/>
    <p:sldId xmlns:r="http://schemas.openxmlformats.org/officeDocument/2006/relationships" id="270" r:id="R15c0340385544148"/>
    <p:sldId xmlns:r="http://schemas.openxmlformats.org/officeDocument/2006/relationships" id="271" r:id="R4463c2ee4ffe46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5257f34fb43a7" /><Relationship Type="http://schemas.openxmlformats.org/officeDocument/2006/relationships/slideMaster" Target="/ppt/slideMasters/slideMaster1.xml" Id="R2d1160ea8a044ee0" /><Relationship Type="http://schemas.openxmlformats.org/officeDocument/2006/relationships/notesMaster" Target="/ppt/notesMasters/notesMaster1.xml" Id="R49f649d0379b4dfd" /><Relationship Type="http://schemas.openxmlformats.org/officeDocument/2006/relationships/presProps" Target="/ppt/presProps.xml" Id="R0462814d3e6f4392" /><Relationship Type="http://schemas.openxmlformats.org/officeDocument/2006/relationships/tableStyles" Target="/ppt/tableStyles.xml" Id="Rdf4f3ac45e404d94" /><Relationship Type="http://schemas.openxmlformats.org/officeDocument/2006/relationships/slide" Target="/ppt/slides/slide1.xml" Id="Rafb38deb82a742ec" /><Relationship Type="http://schemas.openxmlformats.org/officeDocument/2006/relationships/slide" Target="/ppt/slides/slide2.xml" Id="R8fc1b6b62d164ef9" /><Relationship Type="http://schemas.openxmlformats.org/officeDocument/2006/relationships/slide" Target="/ppt/slides/slide3.xml" Id="Rdd1dd05cdc1f4963" /><Relationship Type="http://schemas.openxmlformats.org/officeDocument/2006/relationships/slide" Target="/ppt/slides/slide4.xml" Id="R4ade47b942614f01" /><Relationship Type="http://schemas.openxmlformats.org/officeDocument/2006/relationships/slide" Target="/ppt/slides/slide5.xml" Id="Racab99abe58b4edb" /><Relationship Type="http://schemas.openxmlformats.org/officeDocument/2006/relationships/slide" Target="/ppt/slides/slide6.xml" Id="R598aba52a7ea4a92" /><Relationship Type="http://schemas.openxmlformats.org/officeDocument/2006/relationships/slide" Target="/ppt/slides/slide7.xml" Id="Rdd01b072b2bc4a18" /><Relationship Type="http://schemas.openxmlformats.org/officeDocument/2006/relationships/slide" Target="/ppt/slides/slide8.xml" Id="R3f5222da314940db" /><Relationship Type="http://schemas.openxmlformats.org/officeDocument/2006/relationships/slide" Target="/ppt/slides/slide9.xml" Id="Rf32523bdfcbb4d83" /><Relationship Type="http://schemas.openxmlformats.org/officeDocument/2006/relationships/slide" Target="/ppt/slides/slide10.xml" Id="Rd2e6002c2a4c45c0" /><Relationship Type="http://schemas.openxmlformats.org/officeDocument/2006/relationships/slide" Target="/ppt/slides/slide11.xml" Id="R7121f130097b47ef" /><Relationship Type="http://schemas.openxmlformats.org/officeDocument/2006/relationships/slide" Target="/ppt/slides/slide12.xml" Id="R374bfd1439db43c1" /><Relationship Type="http://schemas.openxmlformats.org/officeDocument/2006/relationships/slide" Target="/ppt/slides/slide13.xml" Id="R6c332062af4d4f8b" /><Relationship Type="http://schemas.openxmlformats.org/officeDocument/2006/relationships/slide" Target="/ppt/slides/slide14.xml" Id="Rac9ec9cc9fe2469e" /><Relationship Type="http://schemas.openxmlformats.org/officeDocument/2006/relationships/slide" Target="/ppt/slides/slide15.xml" Id="R15c0340385544148" /><Relationship Type="http://schemas.openxmlformats.org/officeDocument/2006/relationships/slide" Target="/ppt/slides/slide16.xml" Id="R4463c2ee4ffe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88d7bfa1f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40ee3fd5ed498f" /><Relationship Type="http://schemas.openxmlformats.org/officeDocument/2006/relationships/notesMaster" Target="/ppt/notesMasters/notesMaster1.xml" Id="Rd181edbcc3b247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2a44cc25646bf" /><Relationship Type="http://schemas.openxmlformats.org/officeDocument/2006/relationships/notesMaster" Target="/ppt/notesMasters/notesMaster1.xml" Id="Rd7d4c749512048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00a4e1733a48b8" /><Relationship Type="http://schemas.openxmlformats.org/officeDocument/2006/relationships/notesMaster" Target="/ppt/notesMasters/notesMaster1.xml" Id="Rca32af4f3fe946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08050508a4955" /><Relationship Type="http://schemas.openxmlformats.org/officeDocument/2006/relationships/notesMaster" Target="/ppt/notesMasters/notesMaster1.xml" Id="Rb04b2a8de94349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e05541bbba4e2e" /><Relationship Type="http://schemas.openxmlformats.org/officeDocument/2006/relationships/notesMaster" Target="/ppt/notesMasters/notesMaster1.xml" Id="Rdc40b9d996f2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b01eeadc184e92" /><Relationship Type="http://schemas.openxmlformats.org/officeDocument/2006/relationships/notesMaster" Target="/ppt/notesMasters/notesMaster1.xml" Id="R7a3a56e3e9fe46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354536c03b472f" /><Relationship Type="http://schemas.openxmlformats.org/officeDocument/2006/relationships/notesMaster" Target="/ppt/notesMasters/notesMaster1.xml" Id="R7f07de4ff259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469ced9476495c" /><Relationship Type="http://schemas.openxmlformats.org/officeDocument/2006/relationships/notesMaster" Target="/ppt/notesMasters/notesMaster1.xml" Id="Rbf6ec303e4914f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7ab6a11c2040fa" /><Relationship Type="http://schemas.openxmlformats.org/officeDocument/2006/relationships/notesMaster" Target="/ppt/notesMasters/notesMaster1.xml" Id="Rcda5690c229543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856e517dc44d98" /><Relationship Type="http://schemas.openxmlformats.org/officeDocument/2006/relationships/notesMaster" Target="/ppt/notesMasters/notesMaster1.xml" Id="R1b9449c101ea4a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7db77ca06e4a2a" /><Relationship Type="http://schemas.openxmlformats.org/officeDocument/2006/relationships/notesMaster" Target="/ppt/notesMasters/notesMaster1.xml" Id="R6e56f12557314f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7eaf51102a4d15" /><Relationship Type="http://schemas.openxmlformats.org/officeDocument/2006/relationships/notesMaster" Target="/ppt/notesMasters/notesMaster1.xml" Id="Rcbfeb56b8fd947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536f5503c247da" /><Relationship Type="http://schemas.openxmlformats.org/officeDocument/2006/relationships/notesMaster" Target="/ppt/notesMasters/notesMaster1.xml" Id="Rda0ea40551f248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8f2c9c1aca4c4b" /><Relationship Type="http://schemas.openxmlformats.org/officeDocument/2006/relationships/notesMaster" Target="/ppt/notesMasters/notesMaster1.xml" Id="Re4874aee81c947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04feeab14a4da5" /><Relationship Type="http://schemas.openxmlformats.org/officeDocument/2006/relationships/notesMaster" Target="/ppt/notesMasters/notesMaster1.xml" Id="R54dce683ca9942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ec84d318c9403d" /><Relationship Type="http://schemas.openxmlformats.org/officeDocument/2006/relationships/notesMaster" Target="/ppt/notesMasters/notesMaster1.xml" Id="R77e0e109187e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a tensão central: a solução precisa permitir que mais de 10 squads entreguem de forma autônoma sem repetir um ecossistema fragmentado. A proposta não procura a tecnologia mais sofisticada; procura limites operáveis.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docs/CASE.md</a:t>
            </a:r>
          </a:p>
          <a:p xmlns:a="http://schemas.openxmlformats.org/drawingml/2006/main">
            <a:r>
              <a:t>- docs/SPEC.md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número de squads muda a decisão. Uma SPA modular simples reduziria complexidade técnica, mas manteria uma cadência central. O legado e o mobile impedem uma solução de reescrita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docs/CASE.md</a:t>
            </a:r>
          </a:p>
          <a:p xmlns:a="http://schemas.openxmlformats.org/drawingml/2006/main">
            <a:r>
              <a:t>- docs/SPEC.md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tese da proposta. Monorepo resolve desenvolvimento; Module Federation resolve entrega independente; contratos resolvem acoplamento; registro resolve evolução e legado. Nenhuma dessas escolhas isoladamente resolve 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docs/PROPOSTA-TECNICA.md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o diagrama da esquerda para a direita. O shell resolve destino e composição. Core usa Portal BFF apenas para experiências transversais. Domínios usam BFF próprio somente quando necessário. Design System e observabilidade são contratos transversais, não lugares para lógica de negócio.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docs/PROPOSTA-TECNICA.md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Defenda o shell fino como mecanismo anti-gargalo. Ele oferece capacidades estáveis, mas não precisa ser alterado para cada jornada. O domínio carrega seu estado, integração e operação.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docs/ARCHITECTURE.md#architectural-style-and-boundaries</a:t>
            </a:r>
          </a:p>
          <a:p xmlns:a="http://schemas.openxmlformats.org/drawingml/2006/main">
            <a:r>
              <a:t>- docs/ARCHITECTURE.md#state-and-data-ownership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Reconheça o custo: Module Federation não é a opção mais simples nem a de melhor performance inicial. Ela é escolhida porque cadências independentes são requisito explícito. Os guardrails evitam que a composição vire um mosaico de widgets.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docs/CASE.md</a:t>
            </a:r>
          </a:p>
          <a:p xmlns:a="http://schemas.openxmlformats.org/drawingml/2006/main">
            <a:r>
              <a:t>- docs/PROPOSTA-TECNICA.md#4-estratégia-de-microfrontends-e-monorepo</a:t>
            </a:r>
          </a:p>
          <a:p xmlns:a="http://schemas.openxmlformats.org/drawingml/2006/main">
            <a:r>
              <a:t>- https://nx.dev/docs/technologies/module-federation/concepts/module-federation-and-nx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colaboração no código de dependência operacional. O monorepo aumenta visibilidade e padronização. Cada remote continua com build, rollout e rollback próprios. Plataforma mantém o formato; squads mantêm 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docs/ARCHITECTURE.md#dependency-rules</a:t>
            </a:r>
          </a:p>
          <a:p xmlns:a="http://schemas.openxmlformats.org/drawingml/2006/main">
            <a:r>
              <a:t>- docs/PROPOSTA-TECNICA.md#3-estratégia-para-múltiplas-squads</a:t>
            </a:r>
          </a:p>
          <a:p xmlns:a="http://schemas.openxmlformats.org/drawingml/2006/main">
            <a:r>
              <a:t>- https://nx.dev/docs/guides/enforce-module-boundaries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registro separa publicação de exposição. Uma versão pode existir sem receber todo o tráfego. Rollback troca o apontamento, preservando o artefato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docs/PROPOSTA-TECNICA.md#fluxo-de-entrega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decisão prioriza reuso real do React DOM. React Native adicionaria um segundo runtime e não reaproveitaria diretamente os componentes web. A bridge é útil, mas pequena: capacidades do dispositivo, não uma API paralela.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docs/PROPOSTA-TECNICA.md#2-estratégia-web--mobile</a:t>
            </a:r>
          </a:p>
          <a:p xmlns:a="http://schemas.openxmlformats.org/drawingml/2006/main">
            <a:r>
              <a:t>- https://developer.android.com/develop/ui/views/layout/webapps/webview</a:t>
            </a:r>
          </a:p>
          <a:p xmlns:a="http://schemas.openxmlformats.org/drawingml/2006/main">
            <a:r>
              <a:t>- https://developer.android.com/privacy-and-security/risks/insecure-webview-native-bridges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a separação: tokens canônicos são neutros; renderização pertence a cada plataforma. No case, tokens e DS web ficam em libraries locais e o Storybook em uma app documental independente. Em produção, pertencem ao ecossistema corporativo do Design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docs/ARCHITECTURE.md#directory-organization</a:t>
            </a:r>
          </a:p>
          <a:p xmlns:a="http://schemas.openxmlformats.org/drawingml/2006/main">
            <a:r>
              <a:t>- docs/PROPOSTA-TECNICA.md#5-design-system</a:t>
            </a:r>
          </a:p>
          <a:p xmlns:a="http://schemas.openxmlformats.org/drawingml/2006/main">
            <a:r>
              <a:t>- https://www.w3.org/community/reports/design-tokens/CG-FINAL-format-20251028/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estado de servidor, estado de UI e fonte autoritativa. Cada domínio aceita duplicar pequenos caches para preservar isolamento. O BFF não vira um backend central do portal. Autorização é sempre revalidada no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docs/ARCHITECTURE.md#state-and-data-ownership</a:t>
            </a:r>
          </a:p>
          <a:p xmlns:a="http://schemas.openxmlformats.org/drawingml/2006/main">
            <a:r>
              <a:t>- docs/PROPOSTA-TECNICA.md#estado-e-comunicação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shell inicia correlação, mas não opera todos os domínios. O manifesto identifica o owner. O frontend usa contrato desacoplado de fornecedor; BFF e APIs podem propagar W3C Trace Context e usar OpenTelemetry.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docs/PROPOSTA-TECNICA.md#observabilidade-transversal</a:t>
            </a:r>
          </a:p>
          <a:p xmlns:a="http://schemas.openxmlformats.org/drawingml/2006/main">
            <a:r>
              <a:t>- https://opentelemetry.io/docs/languages/js/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um exemplo conceitual: dentro da mesma jornada, consulta pode ser moderna e solicitação ainda externa. O usuário vê uma jornada lógica; o registro resolve a implementação. Avanço é medido por tráfego, conclusão, erro, fallback e dependências restantes.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docs/PROPOSTA-TECNICA.md#6-estratégia-de-migração</a:t>
            </a:r>
          </a:p>
          <a:p xmlns:a="http://schemas.openxmlformats.org/drawingml/2006/main">
            <a:r>
              <a:t>- https://docs.aws.amazon.com/prescriptive-guidance/latest/cloud-design-patterns/strangler-fig.html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diferença entre recomendado e compartilhado. Zustand é a opção recomendada quando estado React local não basta, mas não é obrigatório. Query, Form, Zod, Zustand e DS são compilados pelo domínio; o shell não distribui essas dependências.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docs/ARCHITECTURE.md#technology-baseline</a:t>
            </a:r>
          </a:p>
          <a:p xmlns:a="http://schemas.openxmlformats.org/drawingml/2006/main">
            <a:r>
              <a:t>- docs/PROPOSTA-TECNICA.md#baseline-técnica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esconda os riscos. A proposta aceita maior complexidade de runtime e operação, mas a cerca com granularidade, observabilidade, contratos e rollback. Se não houvesse deploy independente, a recomendação seria uma SPA modular mais simples.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docs/PROPOSTA-TECNICA.md#principais-riscos-e-mitigadores</a:t>
            </a:r>
          </a:p>
          <a:p xmlns:a="http://schemas.openxmlformats.org/drawingml/2006/main">
            <a:r>
              <a:t>- docs/ARCHITECTURE.md#decisions-and-trade-offs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retomando a pergunta inicial. A proposta não elimina coordenação; concentra coordenação em poucos contratos e deixa produto e operação com os domínios. A Parte 2 deve demonstrar shell, dois remotes, registro, fallback, DS e legado simulado.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docs/PROPOSTA-TECNICA.md#escopo-da-parte-1-e-próximo-passo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d8994339f49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7893257754eb6" /><Relationship Type="http://schemas.openxmlformats.org/officeDocument/2006/relationships/slideLayout" Target="/ppt/slideLayouts/slideLayout1.xml" Id="R336da96553f2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da96553f2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7dbdbe7904133" /><Relationship Type="http://schemas.openxmlformats.org/officeDocument/2006/relationships/notesSlide" Target="/ppt/notesSlides/notesSlide1.xml" Id="R12bce608d99543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8d2394ddc4d4f" /><Relationship Type="http://schemas.openxmlformats.org/officeDocument/2006/relationships/notesSlide" Target="/ppt/notesSlides/notesSlide2.xml" Id="Rdd84eec784df48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c5bbc445a4c7b" /><Relationship Type="http://schemas.openxmlformats.org/officeDocument/2006/relationships/notesSlide" Target="/ppt/notesSlides/notesSlide3.xml" Id="R010db610982c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ab214d7fd4805" /><Relationship Type="http://schemas.openxmlformats.org/officeDocument/2006/relationships/notesSlide" Target="/ppt/notesSlides/notesSlide4.xml" Id="R60a54f513980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5b7eb496475b" /><Relationship Type="http://schemas.openxmlformats.org/officeDocument/2006/relationships/notesSlide" Target="/ppt/notesSlides/notesSlide5.xml" Id="R805503f1003c44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b70a9650f4127" /><Relationship Type="http://schemas.openxmlformats.org/officeDocument/2006/relationships/notesSlide" Target="/ppt/notesSlides/notesSlide6.xml" Id="R1805ccaf7f144f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0b8f62d2d4920" /><Relationship Type="http://schemas.openxmlformats.org/officeDocument/2006/relationships/notesSlide" Target="/ppt/notesSlides/notesSlide7.xml" Id="Re8e76adf7b34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051f84d694dba" /><Relationship Type="http://schemas.openxmlformats.org/officeDocument/2006/relationships/notesSlide" Target="/ppt/notesSlides/notesSlide8.xml" Id="R3b03ebd0a72348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a47a0d0a44d1b" /><Relationship Type="http://schemas.openxmlformats.org/officeDocument/2006/relationships/notesSlide" Target="/ppt/notesSlides/notesSlide9.xml" Id="R83aace6c297e4b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0b0333fce4d63" /><Relationship Type="http://schemas.openxmlformats.org/officeDocument/2006/relationships/notesSlide" Target="/ppt/notesSlides/notesSlide10.xml" Id="Rec672d09b08547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86405d0f84250" /><Relationship Type="http://schemas.openxmlformats.org/officeDocument/2006/relationships/notesSlide" Target="/ppt/notesSlides/notesSlide11.xml" Id="R6bf54373271642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ec45a2754bf0" /><Relationship Type="http://schemas.openxmlformats.org/officeDocument/2006/relationships/notesSlide" Target="/ppt/notesSlides/notesSlide12.xml" Id="Rb9fab3a7f9ff4a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e3cf110934421" /><Relationship Type="http://schemas.openxmlformats.org/officeDocument/2006/relationships/notesSlide" Target="/ppt/notesSlides/notesSlide13.xml" Id="R9e50ebde59b84c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2c64514684968" /><Relationship Type="http://schemas.openxmlformats.org/officeDocument/2006/relationships/notesSlide" Target="/ppt/notesSlides/notesSlide14.xml" Id="Rff1e3d0a81194d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4e5ac619f4fac" /><Relationship Type="http://schemas.openxmlformats.org/officeDocument/2006/relationships/notesSlide" Target="/ppt/notesSlides/notesSlide15.xml" Id="Re8e31f3da58044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ceff11d64438d" /><Relationship Type="http://schemas.openxmlformats.org/officeDocument/2006/relationships/notesSlide" Target="/ppt/notesSlides/notesSlide16.xml" Id="R9300eee3bd3446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8F64F-4D2A-4697-8C12-24857DE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FC4F2-B6FD-4FC5-8D87-FDCB03A1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CASE TÉCNICO · PARTE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9C8F4-1349-4BAE-B7A8-CF68F13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Próxima geração</a:t>
            </a:r>
          </a:p>
          <a:p xmlns:a="http://schemas.openxmlformats.org/drawingml/2006/main">
            <a:pPr algn="l">
              <a:defRPr sz="54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do Portal Pessoas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678E3-9036-43F8-9E78-42917B85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Arquitetura para autonomia sustentável, experiência consistente e migração incremental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52450" y="56197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FBCC3-798C-485C-9D83-FA08819D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React · TypeScript · Monorepo · Module Federation · WebView</a:t>
            </a:r>
          </a:p>
        </p:txBody>
      </p:sp>
    </p:spTree>
    <p:extLst>
      <p:ext uri="{BB962C8B-B14F-4D97-AF65-F5344CB8AC3E}">
        <p14:creationId xmlns:p14="http://schemas.microsoft.com/office/powerpoint/2010/main" val="993337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FA832-1997-479B-9C32-D0EC4A5F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682F6-E1AB-436D-BC26-F3296FB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Autonomia organiza toda a solução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8281A-5349-41CF-A91F-1FE04850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CD537-FE62-4D0C-A227-4E36807B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24200-8621-40B1-AD93-F2B79BC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squads trabalhando simultaneamente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3810000" y="17526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AF543-C574-4C1E-B8BD-0CC0167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Legado coexistente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27A51-9D34-4554-B120-280BC6D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React antigo, Angular e plataformas atuais precisam continuar acessíveis durante a migração.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35275-D951-44EB-83B7-4BDE206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Web + mobile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A7A16-E65B-4DA0-AA65-2D841223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 app mantém um core Kotlin/Swift mínimo e prioriza reuso real das experiências React.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5B38B-51F8-40DA-9423-5AFC80D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9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 consequência: autonomia, performance, governança e evolução precisam ser resolvidas juntas.</a:t>
            </a:r>
          </a:p>
        </p:txBody>
      </p:sp>
    </p:spTree>
    <p:extLst>
      <p:ext uri="{BB962C8B-B14F-4D97-AF65-F5344CB8AC3E}">
        <p14:creationId xmlns:p14="http://schemas.microsoft.com/office/powerpoint/2010/main" val="1520388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94B4-7C42-49E4-BD52-30613AC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C9CED-5BA1-48D4-B833-E2F9845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Código, integração e operação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00AD3-9737-4C38-85A2-9450EEE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37608-BBB8-4B2D-9E8E-D5004BE8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E0CA8-D984-40BE-BD6C-F4E43BAA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Monorepo do moderno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EDB25-00D9-4AD8-B033-22FE35CE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28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Grafo e padrões comuns, sem importar aplicações legadas.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295400" y="23812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B573A-8820-48DE-A023-C8BF186F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5403C-8DC5-42D6-8FCB-02867A45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Composição em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221C7-9146-436C-98A5-C0E50C95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Remotes por domínio, carregados sem rebuild do shell.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295400" y="33337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97B50-2A03-4E5D-BE58-0BA24F6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00F9A-924D-4479-991C-6DAE14F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Contratos mínimos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19FB1-514E-49A0-B2FE-D5DD6E3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Shell, bridge e observabilidade expõem capacidades versionadas.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295400" y="42862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2F1BA-100E-4050-93BB-FDC2D6FC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CD493-621C-4F22-A4B0-9F71D807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Migração reversível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45E33-44D2-4A87-9C46-8FAB3B0F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Registro controla coexistência, rollout e rollback.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295400" y="52387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728570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9049A4-C0C9-4EDA-80E5-C313D0B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5B947-1F21-49A4-8102-3188321F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Shell compõe; domínios entregam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4C030-42F9-4F1E-ADFB-9F73F404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1E566-9BFF-498A-B350-B3A727C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CANAIS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F4772-ECF0-4A9D-AD23-7E62C3A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D5FAF-633E-4B12-B625-827B9EAD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D3E4C-0E24-4D77-9DA6-26BF9180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BA98E-96FB-4724-9D6A-2ECE0F5A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App Kotlin/Swift</a:t>
            </a:r>
          </a:p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+ WebView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0BC31-CA38-4D53-B3A1-68F1FAFB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90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PLATAFORMA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D8C53-F19E-44FD-9478-B0AB3B61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000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8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F132E-BF0F-4D45-A35B-8A141F5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98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Shell fino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F97EC-5D6D-4AA5-AEDA-D1CBEE9B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2AED6-7374-4584-B50A-EF2E8304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Registro dinâmico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FB84D-70D5-418F-9D92-6D13CA13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AD7F5-CEB0-43E9-9B4C-0B105F7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FA32B-DE9F-469D-833F-C3176DDB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90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DESTINOS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7033D-DF0F-4AD1-A827-414B56D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28800"/>
            <a:ext cx="198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87F80-31B3-45BD-A15F-C775534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Experiências</a:t>
            </a:r>
          </a:p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transversais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B70BA-09BB-4427-9E43-21DBC05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86050"/>
            <a:ext cx="198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1913B-7350-447A-ACFF-070684B6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813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Remotes 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BB741-A6D3-4F86-8213-52457439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98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AB86A-4A26-4D74-AAFC-4262AB7A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External web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22BB1-FE3D-46C6-8B33-DB258F19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00550"/>
            <a:ext cx="198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90E06-E195-4A98-878E-9044EBC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958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Native route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CF318-DA6A-4E36-A6D2-B5818B26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90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SERVIÇOS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2F053-A8DE-461A-A4D5-E5450FF1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5E8C6-E23E-4060-B67E-CBDDE882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Portal BFF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E651B-7B1B-4F9A-A404-74002759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D0ECB-D532-487C-9BE1-9EFDABA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004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BFF de domínio</a:t>
            </a:r>
          </a:p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ou API adequada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E3515-93A1-4B60-A9A2-FFD6E760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FEAFD-FB57-474D-AFFC-D1995F14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APIs corporativas</a:t>
            </a:r>
          </a:p>
        </p:txBody>
      </p: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05050" y="2162175"/>
            <a:ext cx="74295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305050" y="2466975"/>
            <a:ext cx="74295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1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4048125" y="28194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1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2305050" y="3048000"/>
            <a:ext cx="74295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11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048250" y="2152650"/>
            <a:ext cx="800100" cy="314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48250" y="2466975"/>
            <a:ext cx="80010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48250" y="2466975"/>
            <a:ext cx="800100" cy="1400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048250" y="2466975"/>
            <a:ext cx="800100" cy="2257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1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29550" y="2152650"/>
            <a:ext cx="83820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0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829550" y="3009900"/>
            <a:ext cx="83820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553450" y="2686050"/>
            <a:ext cx="1019175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9572625" y="3790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340945-90DF-482D-9E5E-30138E54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Design System e observabilidade atravessam o ecossistema sem concentrar regras de negócio.</a:t>
            </a:r>
          </a:p>
        </p:txBody>
      </p:sp>
    </p:spTree>
    <p:extLst>
      <p:ext uri="{BB962C8B-B14F-4D97-AF65-F5344CB8AC3E}">
        <p14:creationId xmlns:p14="http://schemas.microsoft.com/office/powerpoint/2010/main" val="739769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C61BE-E072-4655-B856-809A2091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00E80-60B5-4F5E-BA5B-999E86BE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Shell fino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9ACC4-01A6-4DB7-A777-402C4D1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09D1E-8E9B-40AB-B0E5-4B212D2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6300C-48C2-4AAA-A3E6-B8D05057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68942-25AB-41DF-835A-9F258077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 shell possui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CCBA3-9F52-423D-B58B-15FA316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bootstrap e sessão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navegação e descoberta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composição e fallback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rollout e correlação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tema, idioma e capabilities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E25D4-66CD-441E-BED1-63C14599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431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 domínio possui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589A1-AF0E-4946-A310-63D0985B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rotas internas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estado e formulários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regras de apresentação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API/BFF e telemetria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release, rollback e incidentes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E84EF-3C31-488C-9755-B39DBE30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rPr>
              <a:t>Proibido: store global de negócio · imports entre remotes · APIs de domínio no shell</a:t>
            </a:r>
          </a:p>
        </p:txBody>
      </p:sp>
    </p:spTree>
    <p:extLst>
      <p:ext uri="{BB962C8B-B14F-4D97-AF65-F5344CB8AC3E}">
        <p14:creationId xmlns:p14="http://schemas.microsoft.com/office/powerpoint/2010/main" val="578005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452E3F-DC0A-41C6-8F7A-217B28E4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1BDA9-E52A-4FF4-8409-0FB5ABA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Module Federation prioriza autonomia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DC034-74AA-4DDE-B992-480E76A0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FB206-F782-459A-A4F3-1440568C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CDB7-6D08-4112-A93B-040B094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Autonomia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5572-7B59-4C86-8801-0FA3B362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9C9DF-9894-4386-B733-F9A14E62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E75E4-CC51-4116-B83A-6B6BEF84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Aderência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33400" y="2114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B5D8B-EC27-4CA9-84F3-332D7823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SPA / único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B2BEC-C778-48BB-B8DC-74CD7DDE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Baixa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FDDA5-F012-4478-9EAB-2AFF9F9E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Simples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6A6AB-E8FF-4EE6-91F5-BA0A7950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Melhor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AFA8C-EDE8-4A5D-A49F-FFE9D7C4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Não atende cadências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533400" y="2800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841B7-7F25-408C-8E18-E043ACE2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Packages em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59E92-D022-450B-A753-08BD867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Média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72B4B-8FCB-453E-A5A8-BF45D6C1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Média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30E04-E711-4B32-9E4D-A1DCD237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Boa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BB06D-8F6F-4C1E-A099-F1F569B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Úteis para libraries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34671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FBEE9-98B3-4C5E-BEE0-56C64F5D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11277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BDC7A-F451-435E-8E7C-E465347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MF por domínio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90160-7DDC-4701-989B-F6F17F3A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Alta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B001D-22AB-4DEE-BEAB-D86BD34A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Média/alta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64D7B-7EA0-4DE8-9642-AF4EFDE2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Controlável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CCF7F-6FF0-464B-BBD4-0E37AAC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Escolhida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533400" y="41338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99641-5DF0-4B0B-A717-3DE019C1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Single-SPA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96A46-580A-42C8-9D29-CE3B9FA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05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Alta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C6152-C1DE-4640-B3D9-1D0606C1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05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Alta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B24C2-F8EB-454E-8BBA-38BC8EC0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Variável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35D2C-D6D6-4D1E-9D06-29C0642F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05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Excesso para legado temporário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533400" y="48006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08BF6-9886-4500-82EE-A1B2198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Iframe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369364-B912-4D32-A32F-EF60D8D9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Alta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9030C1-931D-4148-A4D9-7F4E5BA0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72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Alta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03AA61-EC61-43DC-A668-FD82979C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Fragmentada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862D3E-BB14-4C20-849F-CBFA6D05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Somente exceção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533400" y="546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12A6A-3E2A-4568-95BC-5792875A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 escolha só funciona com granularidade coarse, poucos singletons e contratos explícitos.</a:t>
            </a:r>
          </a:p>
        </p:txBody>
      </p:sp>
    </p:spTree>
    <p:extLst>
      <p:ext uri="{BB962C8B-B14F-4D97-AF65-F5344CB8AC3E}">
        <p14:creationId xmlns:p14="http://schemas.microsoft.com/office/powerpoint/2010/main" val="431417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04D6A-0F55-447F-8122-FB4C078E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FFDE1-8477-4C7E-9F4D-D7B77906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Monorepo não implica entrega conjunta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FB366-ADD9-4CF4-B2EA-8FDB0A7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315DD-7536-4CE0-B7C0-3393E576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31783-F161-48BC-92A6-278EEE89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Workspace comum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DE77F-0167-45D6-BC1E-62C1172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Nx + pnpm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fronteiras por tags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configurações-base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versões recomendadas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EB340-638C-4CF1-A742-DB989838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3C043-0D56-493D-B580-5B81846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Ownership explícito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0EE25-1FDB-49C4-AFF6-EBDC9748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CODEOWNERS por domínio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manifesto com squad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dashboards e alertas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ADR para exceções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52ED6-BA48-43CB-898E-76C85028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716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50E22-2558-444D-9767-F2DB766C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Operação independente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541E-D88E-4B57-84A1-18AD1C95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build afetado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artefato imutável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rollout por grupo</a:t>
            </a:r>
          </a:p>
          <a:p xmlns:a="http://schemas.openxmlformats.org/drawingml/2006/main">
            <a:pPr algn="l">
              <a:def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rollback pelo registro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3762375" y="17526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5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7334250" y="17526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7BDC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65937-2686-4206-AC45-460C407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 plataforma automatiza o formato do ecossistema; não aprova cada funcionalidade.</a:t>
            </a:r>
          </a:p>
        </p:txBody>
      </p:sp>
    </p:spTree>
    <p:extLst>
      <p:ext uri="{BB962C8B-B14F-4D97-AF65-F5344CB8AC3E}">
        <p14:creationId xmlns:p14="http://schemas.microsoft.com/office/powerpoint/2010/main" val="1282634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FA7FE-6C60-4AA4-8E8D-EE3AF6C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B8E58-C21E-4476-A260-275CC78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Entrega independente, rollout reversível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04528-B7E0-41E6-B21D-0B85C416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125A5-FD4C-462B-9AEE-BA29142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F15F8-5231-4ADB-AD79-7971828B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Mudança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F14D0-AE87-40A5-89FE-C3715411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6D5E3-4925-4DE4-B069-D41C067E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03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Afetados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BBE0F-0B6E-4780-BA39-6F5A525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45F17-9B02-4672-90A0-873A3E09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C6EF8-2FDD-40E0-AC31-27072BEA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30675-2F53-4C1A-B399-26B64D6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Artefato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D0107-D8FE-446C-977A-BEE1774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7B4E8-0484-4A10-8BD8-A171AF3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Rollout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8AED8-2AB1-4455-8976-B4AE328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05100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ABE94-B02D-4546-BE01-E7E99EA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Promoção</a:t>
            </a:r>
          </a:p>
        </p:txBody>
      </p: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19300" y="3038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43350" y="3038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67400" y="3038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91450" y="3038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715500" y="3038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75A40-BA65-4EB3-A69E-6A04D1C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squad do domínio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AA52A-0026-4269-BA6E-11C42934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grafo Nx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03802-007A-4194-86F3-91A734E2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qualidade + contrato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69F83-A815-4987-8433-FD342DF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versão imutável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0AC0F-A02C-42F2-BA40-C4BA34D6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grupo estável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A2F81-1139-4A7C-BF47-16EE42BD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385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ou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DC0EF-3C37-4C43-A5BB-D5C6D18C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882ED-9943-4E17-8D32-642AA31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Falhou? O registro volta à versão anterior sem rebuild do shell.</a:t>
            </a:r>
          </a:p>
        </p:txBody>
      </p:sp>
    </p:spTree>
    <p:extLst>
      <p:ext uri="{BB962C8B-B14F-4D97-AF65-F5344CB8AC3E}">
        <p14:creationId xmlns:p14="http://schemas.microsoft.com/office/powerpoint/2010/main" val="1728086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FB5D9-2185-4E0D-A45E-514AE301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6180-0BF3-4BE9-8200-2EAFB23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WebView reutiliza o portal React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553AD-8FD5-443E-A75C-DC31FD7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6832A-5E43-434B-9552-7EFB833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8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0FB80-B34F-4729-8CB7-A50C385F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Portal React</a:t>
            </a:r>
          </a:p>
          <a:p xmlns:a="http://schemas.openxmlformats.org/drawingml/2006/main">
            <a:pPr algn="ctr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responsivo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78B72-A223-46FB-9F70-1DECE1B4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D9802-8FC4-4F76-A586-D309135A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Desktop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C7C3A-3AEE-4BA5-9CE2-486986CE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7EBBD-F026-4900-A9A4-915054FD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432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Browser mobile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6467C-759A-4947-A1D3-6825B00D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4EFBC-8F4A-44E9-81B6-72B38C26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385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WebView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799DC-CAD4-4A32-ADA1-A232BF28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05218-7EA7-4DBB-BDED-27F529F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Bridge mínima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CD9CF-AB05-4BC1-BC4F-61327395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60AF4-0462-4269-A89C-D9AA004D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Kotlin / Swift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09900" y="2038350"/>
            <a:ext cx="108585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9900" y="2914650"/>
            <a:ext cx="10858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09900" y="2914650"/>
            <a:ext cx="108585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15000" y="38290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43900" y="38290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D8608-E71B-4249-8DC6-C9FB7D17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4248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Nativo: sessão, push, deep links, permissões, arquivos e telemetria do dispositivo.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A4D3C-ECEF-480B-9662-00D9BFA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8630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rPr>
              <a:t>A bridge não transporta regras de negócio nem tokens para o JavaScript.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C17CD-C91D-4EB7-A8AA-838E0095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React Native permanece uma alternativa para fluxos com exigência nativa comprovada.</a:t>
            </a:r>
          </a:p>
        </p:txBody>
      </p:sp>
    </p:spTree>
    <p:extLst>
      <p:ext uri="{BB962C8B-B14F-4D97-AF65-F5344CB8AC3E}">
        <p14:creationId xmlns:p14="http://schemas.microsoft.com/office/powerpoint/2010/main" val="2145338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5E70E-263F-4550-993C-DC6B2D0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A9766-67B0-48A9-960A-EFEDF419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Design System: semântica comum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45CD7-C85E-477A-9249-58E79E59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09400-4E78-4630-BDCC-914D95C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8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DCEFF-60D0-426E-9F8D-83504C0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Tokens neutros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68CA5-0E2B-459D-91FB-E4C6F53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66660-B1E1-491E-9112-C3F8A14A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Tema + DS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EEF55-F049-4B61-8102-1458D54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D48F1-ABFC-4CE9-AD99-09C62AA5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Tema Android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063C3-AF40-4A99-B20D-32DBD328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D315A-41C3-4C05-9C81-3F4D685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Tema iOS</a:t>
            </a:r>
          </a:p>
        </p:txBody>
      </p:sp>
      <p:cxnSp>
        <p:nvCxnSpPr>
          <p:cNvPr id="39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866900" y="23622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04850" y="2362200"/>
            <a:ext cx="1162050" cy="16002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04850" y="2362200"/>
            <a:ext cx="1162050" cy="2705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CB9E0-144E-4F55-83A2-77F6E84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B7125-1A9E-4FF1-8646-85284B02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383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botão · campo · texto · feedback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95750" y="2438400"/>
            <a:ext cx="676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81A9B-4924-45DF-9332-278D29E4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Compostos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E9E81-6D16-495A-8751-E8858B60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modal · navegação · tabela · busca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95750" y="3505200"/>
            <a:ext cx="676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86565-9701-4759-ABF5-83AFDE6C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Negócio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05A6C-B996-4B1D-B742-CBFFC7F0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permanece no domínio até provar reuso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95750" y="4572000"/>
            <a:ext cx="676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5C287-7177-4820-987D-26561E24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676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48915-7D39-46C9-A2DE-F6ECF28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Storybook documenta estados, temas, acessibilidade, interação e regressão visual — fora do shell.</a:t>
            </a:r>
          </a:p>
        </p:txBody>
      </p:sp>
    </p:spTree>
    <p:extLst>
      <p:ext uri="{BB962C8B-B14F-4D97-AF65-F5344CB8AC3E}">
        <p14:creationId xmlns:p14="http://schemas.microsoft.com/office/powerpoint/2010/main" val="18734604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B313C-9B78-41A8-8941-A2E9C2C9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81F1C-0CA5-427C-A082-E8C74839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Dados fluem; estado pertence ao domínio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856D6-D247-4555-B57B-4A9BB76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AF7EA-F569-4522-9C7E-3783C4A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A544A-3F50-4113-B5B1-6713514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contexto mínimo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66750" y="27813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87D9E-37AF-4564-B90F-0CD7816A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sessão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tema e idioma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navegação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flags resolvidas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8ACF1-E5B5-4B61-8459-09E4F1B5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Domínio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AA7B0-24E8-4862-B5A3-944C8C5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estado e cache próprios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171950" y="27813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49EBA-947D-447B-AD07-9AA8B49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QueryClient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formulários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estado local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cliente 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D502C-B181-4677-95C3-8159C86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8C55F-1566-49F5-AF29-7927A919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fonte autoritativa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7677150" y="27813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8C087-A429-43DA-BA37-56E6AF87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dados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autorização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invariantes</a:t>
            </a:r>
          </a:p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processos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04662-7C75-46BF-94CE-F629054C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9867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BF838-AC8E-4F32-B8F6-8E09B076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BFF transversal apenas para home/catálogo/busca/notificações. BFF de domínio somente quando agregação ou adaptação justificarem.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4DAE9-024C-434D-9679-BEB67B20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rPr>
              <a:t>Sessão: cookie seguro e HttpOnly · nenhum token disponível ao JavaScript</a:t>
            </a:r>
          </a:p>
        </p:txBody>
      </p:sp>
    </p:spTree>
    <p:extLst>
      <p:ext uri="{BB962C8B-B14F-4D97-AF65-F5344CB8AC3E}">
        <p14:creationId xmlns:p14="http://schemas.microsoft.com/office/powerpoint/2010/main" val="13620302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55516-8384-4135-B0A8-84D6435D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6359A-F40A-433F-8863-215669D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Telemetria precisa encontrar o owner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2E6D6-1D68-43A9-8AB4-3C51B00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AED09-97A5-47D6-B371-F5E5D39C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9632C-1DAE-48BF-A80D-F22BFC0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Web / WebView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A5003-BB21-4584-B1B4-1CFAD767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88712-B131-4ED6-A3CD-FF517858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ADCF4-08A2-4534-8FCB-0E152E6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B7BD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D31F2-89D0-4AA1-A92E-746C16C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34279-4AD2-48B9-8831-5ECD8B5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D1109-DA40-45A5-86F9-13B596C1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Telemetria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33650" y="27908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05400" y="27908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77150" y="27908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0BB95-4575-4CD6-A4EC-D83C136A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trace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AAECF-6F85-4B86-B4F8-B13489B8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domínio · versão · rota · plataforma · rollout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DF653-6514-47C5-9E12-624D069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Sinais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C2132-88BE-4202-ADC9-8257B80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erros · logs · Web Vitals ·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E00A4-7F8A-486A-9601-B8CD0A8D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76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Isolamento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113D0-E5FC-43DB-B967-BF12A65C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timeout · fallback · retry limitado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D444C-07CB-423C-B989-061465C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76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EAF39-C6B3-4875-BA28-F21C066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manifesto roteia dashboard e alerta</a:t>
            </a:r>
          </a:p>
        </p:txBody>
      </p:sp>
    </p:spTree>
    <p:extLst>
      <p:ext uri="{BB962C8B-B14F-4D97-AF65-F5344CB8AC3E}">
        <p14:creationId xmlns:p14="http://schemas.microsoft.com/office/powerpoint/2010/main" val="1452741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F5BC3-8D0C-4D13-B4DF-B47C717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E8E19-4E24-4B8D-9C37-FAA6B2B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Migração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AA103-31C6-4EE6-9FB2-402E5E4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838200" y="32385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E12D2-225E-433E-90F1-B5CDE54B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9254C-E9E5-4F8F-8797-2CF20C42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05FD3-9E48-4998-98ED-86D355D5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57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Inventário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A3B34-C4CB-4D95-8315-9EA5BB7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uso e criticidade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08DCE-4C22-4B7F-A7E1-FFC52BC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F23C7-6BF1-4715-AFAD-D7E4C582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F8F85-07EB-479B-86B3-ABC994FD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157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B598E-6C9E-4EEB-B22A-D0A6ECF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767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registro + SSO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CA28B-12FF-48E0-8899-8DB2B8AA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680C1-6902-4D07-A685-A28BB48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3CF24-6C87-42FA-984A-9CD350B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157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Modernização</a:t>
            </a:r>
          </a:p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por capacidade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02F03-211F-40B4-9630-80D60E75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767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rotas substituídas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5EE6-4846-454E-B3A7-2DFF3D6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18434-B1C1-432A-B6A1-88A019E1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3DCBB-61DC-43DF-93D8-63A821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157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Piloto e</a:t>
            </a:r>
          </a:p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rollout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16ECB-A930-485F-A273-3D02619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coortes estáveis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4B8C8-266D-4250-AB00-9397CA70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EFBDD-CF37-4953-8BCB-C4E2583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800AA-0B48-48E3-B6A6-307BDEC8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19500"/>
            <a:ext cx="157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Moderno</a:t>
            </a:r>
          </a:p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como padrão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A498B-9142-4AAD-B0B7-E17FAD9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767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legado como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02CEC-FD79-489D-B381-4116DE08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86EC8-B6B9-4BD7-ADC3-E7F40E04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9AA57-020F-46AA-90C3-4671E1E7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0"/>
            <a:ext cx="157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Desativação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FFE66-B72C-447F-AE3F-BF2E7574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767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SLO + zero referências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D7230-9D7C-4F7B-A5EC-9F9F2856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7210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F501E4-5B14-4FEA-BDCD-0681E2C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8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Falha no piloto → registro retorna versão ou legado</a:t>
            </a:r>
          </a:p>
        </p:txBody>
      </p:sp>
    </p:spTree>
    <p:extLst>
      <p:ext uri="{BB962C8B-B14F-4D97-AF65-F5344CB8AC3E}">
        <p14:creationId xmlns:p14="http://schemas.microsoft.com/office/powerpoint/2010/main" val="2037365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E210C-428E-4570-842E-C18056B3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041EF-0392-4740-A863-E29A80A6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Baseline com autonomia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1DC2C-905E-41AD-8BB4-C68B6806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7F753-9446-49E3-90AA-37DAA9A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33400" y="22860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BC700-C579-4CA4-82ED-ED1084E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React · TypeScript · CSR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Vite · Module Federation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React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166FA-D5A1-4508-B244-6E4D1E2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Dados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134100" y="22860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F7111-830B-40B5-B61C-2EF5199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fetch por domínio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TanStack Query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OpenAPI quando disponível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AED5E-2A91-49BA-897F-69691A1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Experiência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33400" y="43243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91620-0B99-4CEF-8912-3352D14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React Hook Form · Zod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CSS Modules · SCSS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Tokens · Storybook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0596A-8F94-4D11-A697-DC543555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90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Qualidade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134100" y="43243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BDC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BBDFA-0679-40CD-941A-E3BFB2F0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Vitest · Testing Library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MSW · Playwright</a:t>
            </a:r>
          </a:p>
          <a:p xmlns:a="http://schemas.openxmlformats.org/drawingml/2006/main">
            <a:pPr algn="l">
              <a:def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Nx + ESLint boundaries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15C76-A6C5-4E6C-BE02-A419BB9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D3B3B"/>
                </a:solidFill>
                <a:latin typeface="Helvetica Neue"/>
                <a:ea typeface="Helvetica Neue"/>
                <a:cs typeface="Helvetica Neue"/>
              </a:rPr>
              <a:t>Singletons de runtime: React · React DOM · React Router</a:t>
            </a:r>
          </a:p>
        </p:txBody>
      </p:sp>
    </p:spTree>
    <p:extLst>
      <p:ext uri="{BB962C8B-B14F-4D97-AF65-F5344CB8AC3E}">
        <p14:creationId xmlns:p14="http://schemas.microsoft.com/office/powerpoint/2010/main" val="10807070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CE1D5-A463-4BC0-BB20-5EBEF810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PORTAL PESSOAS · PROPOSTA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332CA-5ADD-4343-BDDE-59D58D82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Riscos explícitos tornam-se operáveis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FF7B9-1D68-4861-89B4-A7B868BC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4933D-FC83-4AB3-95EC-62DBA0D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Risco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7388D-1494-438B-A7E3-CC35D93F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Resposta arquitetural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33400" y="21145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6CE54-319F-46F4-82C4-B3CE16E0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Performance de muitos remotes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08F0E-96DA-4196-B981-6AE4ACD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coarse-grained, budgets, lazy loading e Web Vitals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33400" y="28384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96C74-E730-4264-AE5B-366E7CC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Shell ou plataforma como gargalo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34269-8190-4FBA-8D51-05D957D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registro dinâmico, contrato pequeno e self-service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33400" y="3524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4D704-79E1-4BDD-9E5E-FF63F9A1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Drift entre squads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2F484-4681-46AA-8F26-CCC9D6AE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golden path, DS, Storybook e boundaries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33400" y="42100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3D3B3-1CEF-41CE-BE87-40A5B7DC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Versões incompatíveis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4D991-949D-4BC9-82F1-71AD7D89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poucos singletons, contrato semântico e fallback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33400" y="48958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ADBED-F706-491F-8F5A-BA8C9BCF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Migração sem fim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B0853-2C39-4106-ABA3-A65DEB1D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scorecard, rollout e critérios de desativação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533400" y="5581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7922C-184E-4A27-B1C4-9C99751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 custo residual é aceito porque compra autonomia real para 10+ squads.</a:t>
            </a:r>
          </a:p>
        </p:txBody>
      </p:sp>
    </p:spTree>
    <p:extLst>
      <p:ext uri="{BB962C8B-B14F-4D97-AF65-F5344CB8AC3E}">
        <p14:creationId xmlns:p14="http://schemas.microsoft.com/office/powerpoint/2010/main" val="7354923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A9382-E172-4E28-B273-E5F6270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DF126-45A4-4733-9D05-FC60BC2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RECOMENDAÇÃO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C128E-A5DC-4448-9E6A-1571E064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95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Complexidade somente</a:t>
            </a:r>
          </a:p>
          <a:p xmlns:a="http://schemas.openxmlformats.org/drawingml/2006/main">
            <a:pPr algn="l">
              <a:def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onde ela compra autonomia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2FB45-6359-4E13-8CF3-6EEA6293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Squads publicam e revertem sem alterar o shell</a:t>
            </a:r>
          </a:p>
          <a:p xmlns:a="http://schemas.openxmlformats.org/drawingml/2006/main">
            <a:pPr algn="l">
              <a:def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Web e WebView reutilizam a mesma experiência React</a:t>
            </a:r>
          </a:p>
          <a:p xmlns:a="http://schemas.openxmlformats.org/drawingml/2006/main">
            <a:pPr algn="l">
              <a:def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Legado convive sem contaminar o novo baseline</a:t>
            </a:r>
          </a:p>
          <a:p xmlns:a="http://schemas.openxmlformats.org/drawingml/2006/main">
            <a:pPr algn="l">
              <a:def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• Golden path mantém consistência sem centralizar entregas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52450" y="5581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FA10A-9900-4C40-AD31-1C110543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Próximo passo: Parte 2 deve provar os riscos arquiteturais, não simular um portal completo.</a:t>
            </a:r>
          </a:p>
        </p:txBody>
      </p:sp>
    </p:spTree>
    <p:extLst>
      <p:ext uri="{BB962C8B-B14F-4D97-AF65-F5344CB8AC3E}">
        <p14:creationId xmlns:p14="http://schemas.microsoft.com/office/powerpoint/2010/main" val="615401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2026-08-14T04:14:31.2340000Z</dcterms:created>
  <dcterms:modified xsi:type="dcterms:W3CDTF">2026-08-14T04:14:31.2340000Z</dcterms:modified>
</coreProperties>
</file>